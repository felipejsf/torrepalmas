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4994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A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PALMAS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App.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de reservas </a:t>
            </a:r>
            <a:pPr indent="0" marL="0">
              <a:buNone/>
            </a:pPr>
            <a:r>
              <a:rPr lang="en-US" sz="4800" b="1" i="1" dirty="0">
                <a:solidFill>
                  <a:srgbClr val="149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inteligente</a:t>
            </a:r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5C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Mínimo Viable · Plan de Lanzamiento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4846320"/>
            <a:ext cx="1097280" cy="36576"/>
          </a:xfrm>
          <a:prstGeom prst="rect">
            <a:avLst/>
          </a:prstGeom>
          <a:solidFill>
            <a:srgbClr val="14994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visión y arquitectura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5394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 · Equipo de Producto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0" y="6126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149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/ v1.0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0" y="6400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8A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PALMAS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9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DEL PRODUCTO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320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MVP ·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herramienta digital que </a:t>
            </a:r>
            <a:pPr indent="0" marL="0">
              <a:buNone/>
            </a:pPr>
            <a:r>
              <a:rPr lang="en-US" sz="3800" b="1" i="1" dirty="0">
                <a:solidFill>
                  <a:srgbClr val="149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simplifica</a:t>
            </a:r>
            <a:pPr indent="0" marL="0">
              <a:buNone/>
            </a:pPr>
            <a:r>
              <a:rPr lang="en-US" sz="3800" b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la gestión de salas.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i="1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web app conectada al ecosistema Torre Palmas que permite a clientes y operación reservar salas de juntas y capacitación en tiempo real, con visibilidad total del inventario y control de uso por usuario.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29768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4297680"/>
            <a:ext cx="54864" cy="1828800"/>
          </a:xfrm>
          <a:prstGeom prst="rect">
            <a:avLst/>
          </a:prstGeom>
          <a:solidFill>
            <a:srgbClr val="14994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480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8006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5349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guiado de 4 pasos para que cualquier usuario reserve en menos de un minuto.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429768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4297680"/>
            <a:ext cx="54864" cy="1828800"/>
          </a:xfrm>
          <a:prstGeom prst="rect">
            <a:avLst/>
          </a:prstGeom>
          <a:solidFill>
            <a:srgbClr val="14994B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4480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48006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Controlar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17720" y="5349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diferenciados para administrar, supervisar y operar sin fricciones.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4297680"/>
            <a:ext cx="3611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4297680"/>
            <a:ext cx="54864" cy="1828800"/>
          </a:xfrm>
          <a:prstGeom prst="rect">
            <a:avLst/>
          </a:prstGeom>
          <a:solidFill>
            <a:srgbClr val="14994B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4480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0" y="48006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12480" y="5349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sólida para añadir anuncios, notificaciones y cobranza automática.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0" y="64465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 / 11 ·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PALMAS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9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MVP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320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MVP ·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incluye —</a:t>
            </a:r>
            <a:pPr indent="0" marL="0">
              <a:buNone/>
            </a:pPr>
            <a:r>
              <a:rPr lang="en-US" sz="3400" b="1" i="1" dirty="0">
                <a:solidFill>
                  <a:srgbClr val="149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 qué no — </a:t>
            </a:r>
            <a:pPr indent="0" marL="0">
              <a:buNone/>
            </a:pPr>
            <a:r>
              <a:rPr lang="en-US" sz="3400" b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versión 1?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4864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468880"/>
            <a:ext cx="5486400" cy="457200"/>
          </a:xfrm>
          <a:prstGeom prst="rect">
            <a:avLst/>
          </a:prstGeom>
          <a:solidFill>
            <a:srgbClr val="14994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4203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 MVP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3108960"/>
            <a:ext cx="182880" cy="182880"/>
          </a:xfrm>
          <a:prstGeom prst="ellipse">
            <a:avLst/>
          </a:prstGeom>
          <a:solidFill>
            <a:srgbClr val="14994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08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305409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niveles de usuarios con permisos diferenciados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547872"/>
            <a:ext cx="182880" cy="182880"/>
          </a:xfrm>
          <a:prstGeom prst="ellipse">
            <a:avLst/>
          </a:prstGeom>
          <a:solidFill>
            <a:srgbClr val="14994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478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51560" y="34930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reserva guiado por pasos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986784"/>
            <a:ext cx="182880" cy="182880"/>
          </a:xfrm>
          <a:prstGeom prst="ellipse">
            <a:avLst/>
          </a:prstGeom>
          <a:solidFill>
            <a:srgbClr val="14994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86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" y="3931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salas por capacidad (1-4, 5-8, 9-15, 15-30)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425696"/>
            <a:ext cx="182880" cy="182880"/>
          </a:xfrm>
          <a:prstGeom prst="ellipse">
            <a:avLst/>
          </a:prstGeom>
          <a:solidFill>
            <a:srgbClr val="14994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4256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" y="43708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automático de horario al asignar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864608"/>
            <a:ext cx="182880" cy="182880"/>
          </a:xfrm>
          <a:prstGeom prst="ellipse">
            <a:avLst/>
          </a:prstGeom>
          <a:solidFill>
            <a:srgbClr val="14994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864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" y="48097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recepción con vista de reservas en vivo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5303520"/>
            <a:ext cx="182880" cy="182880"/>
          </a:xfrm>
          <a:prstGeom prst="ellipse">
            <a:avLst/>
          </a:prstGeom>
          <a:solidFill>
            <a:srgbClr val="14994B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303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51560" y="52486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horas por usuario y aviso al exceder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7240" y="5742432"/>
            <a:ext cx="182880" cy="182880"/>
          </a:xfrm>
          <a:prstGeom prst="ellipse">
            <a:avLst/>
          </a:prstGeom>
          <a:solidFill>
            <a:srgbClr val="14994B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7424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" y="5687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de registros consultable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2468880"/>
            <a:ext cx="53492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2468880"/>
            <a:ext cx="5349240" cy="457200"/>
          </a:xfrm>
          <a:prstGeom prst="rect">
            <a:avLst/>
          </a:prstGeom>
          <a:solidFill>
            <a:srgbClr val="6B7C5C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25420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V1 — PRÓXIMAS FASES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1228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anuncios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12280" y="33649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Promociones y eventos publicados desde el panel.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9224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1228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push y email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12280" y="41422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Recordatorios, confirmaciones y avisos en vivo.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92240" y="4663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81228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integrados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812280" y="4919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 automático al exceder horas asignadas.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92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12280" y="5394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analítica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812280" y="56967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uso, ranking de salas, ocupación.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0" y="64465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 / 11 ·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PALMAS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9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ROLES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320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MVP ·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niveles, </a:t>
            </a:r>
            <a:pPr indent="0" marL="0">
              <a:buNone/>
            </a:pPr>
            <a:r>
              <a:rPr lang="en-US" sz="3400" b="1" i="1" dirty="0">
                <a:solidFill>
                  <a:srgbClr val="149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superpoderes</a:t>
            </a:r>
            <a:pPr indent="0" marL="0">
              <a:buNone/>
            </a:pPr>
            <a:r>
              <a:rPr lang="en-US" sz="3400" b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distintos.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nivel ve y controla solo lo que necesita.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51206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9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Función Principal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99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Permisos Clave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994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18"/>
                          </a:solidFill>
                        </a:rPr>
                        <a:t>1.  Administrador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18"/>
                          </a:solidFill>
                        </a:rPr>
                        <a:t>Control total del sistema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4A5446"/>
                          </a:solidFill>
                        </a:rPr>
                        <a:t>Gestiona usuarios, roles, salas, horas asignadas y configuración global.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18"/>
                          </a:solidFill>
                        </a:rPr>
                        <a:t>2.  Recepcionista Jefe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18"/>
                          </a:solidFill>
                        </a:rPr>
                        <a:t>Operación de la recepción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4A5446"/>
                          </a:solidFill>
                        </a:rPr>
                        <a:t>Reserva salas, selecciona características, edita reservas de cualquier usuario.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E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18"/>
                          </a:solidFill>
                        </a:rPr>
                        <a:t>3.  Recepcionista General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18"/>
                          </a:solidFill>
                        </a:rPr>
                        <a:t>Apoyo operativo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4A5446"/>
                          </a:solidFill>
                        </a:rPr>
                        <a:t>Solo vista — consulta horarios y quién reservó cada sala. Sin modificar.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18"/>
                          </a:solidFill>
                        </a:rPr>
                        <a:t>4.  Usuario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F18"/>
                          </a:solidFill>
                        </a:rPr>
                        <a:t>Cliente final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4A5446"/>
                          </a:solidFill>
                        </a:rPr>
                        <a:t>Reserva sus propias salas dentro del límite de horas asignado.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E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usuario tiene límite de horas. Los roles operativos (1-3) acceden sin restricción de uso.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0" y="64465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4 / 11 ·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PALMAS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9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RESERVA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320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MVP ·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Reservar en </a:t>
            </a:r>
            <a:pPr indent="0" marL="0">
              <a:buNone/>
            </a:pPr>
            <a:r>
              <a:rPr lang="en-US" sz="3400" b="1" i="1" dirty="0">
                <a:solidFill>
                  <a:srgbClr val="149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pasos</a:t>
            </a:r>
            <a:pPr indent="0" marL="0">
              <a:buNone/>
            </a:pPr>
            <a:r>
              <a:rPr lang="en-US" sz="3400" b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simples.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flujo lineal, sin formularios pesados.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10312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3063240"/>
            <a:ext cx="731520" cy="731520"/>
          </a:xfrm>
          <a:prstGeom prst="ellipse">
            <a:avLst/>
          </a:prstGeom>
          <a:solidFill>
            <a:srgbClr val="14994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85800" y="4023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Día y hora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572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fecha y horario de inicio.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816352" y="2743200"/>
            <a:ext cx="210312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02152" y="3063240"/>
            <a:ext cx="731520" cy="731520"/>
          </a:xfrm>
          <a:prstGeom prst="ellipse">
            <a:avLst/>
          </a:prstGeom>
          <a:solidFill>
            <a:srgbClr val="14994B"/>
          </a:solidFill>
          <a:ln/>
        </p:spPr>
      </p:sp>
      <p:sp>
        <p:nvSpPr>
          <p:cNvPr id="15" name="Text 13"/>
          <p:cNvSpPr/>
          <p:nvPr/>
        </p:nvSpPr>
        <p:spPr>
          <a:xfrm>
            <a:off x="3502152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953512" y="4023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999232" y="4572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cuántos asistirán a la sala.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73752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084064" y="2743200"/>
            <a:ext cx="210312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9864" y="3063240"/>
            <a:ext cx="731520" cy="731520"/>
          </a:xfrm>
          <a:prstGeom prst="ellipse">
            <a:avLst/>
          </a:prstGeom>
          <a:solidFill>
            <a:srgbClr val="14994B"/>
          </a:solidFill>
          <a:ln/>
        </p:spPr>
      </p:sp>
      <p:sp>
        <p:nvSpPr>
          <p:cNvPr id="21" name="Text 19"/>
          <p:cNvSpPr/>
          <p:nvPr/>
        </p:nvSpPr>
        <p:spPr>
          <a:xfrm>
            <a:off x="5769864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221224" y="4023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Encargado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266944" y="4572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el nombre del responsable.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41464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351776" y="2743200"/>
            <a:ext cx="210312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37576" y="3063240"/>
            <a:ext cx="731520" cy="731520"/>
          </a:xfrm>
          <a:prstGeom prst="ellipse">
            <a:avLst/>
          </a:prstGeom>
          <a:solidFill>
            <a:srgbClr val="14994B"/>
          </a:solidFill>
          <a:ln/>
        </p:spPr>
      </p:sp>
      <p:sp>
        <p:nvSpPr>
          <p:cNvPr id="27" name="Text 25"/>
          <p:cNvSpPr/>
          <p:nvPr/>
        </p:nvSpPr>
        <p:spPr>
          <a:xfrm>
            <a:off x="8037576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488936" y="4023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Sala disponible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534656" y="4572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muestra solo las opciones libres.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09176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9619488" y="2743200"/>
            <a:ext cx="210312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305288" y="3063240"/>
            <a:ext cx="731520" cy="731520"/>
          </a:xfrm>
          <a:prstGeom prst="ellipse">
            <a:avLst/>
          </a:prstGeom>
          <a:solidFill>
            <a:srgbClr val="14994B"/>
          </a:solidFill>
          <a:ln/>
        </p:spPr>
      </p:sp>
      <p:sp>
        <p:nvSpPr>
          <p:cNvPr id="33" name="Text 31"/>
          <p:cNvSpPr/>
          <p:nvPr/>
        </p:nvSpPr>
        <p:spPr>
          <a:xfrm>
            <a:off x="10305288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9756648" y="4023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Confirmar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9802368" y="4572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y bloquea automáticamente el horario.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852160"/>
            <a:ext cx="11064240" cy="594360"/>
          </a:xfrm>
          <a:prstGeom prst="rect">
            <a:avLst/>
          </a:prstGeom>
          <a:solidFill>
            <a:srgbClr val="D8F0E2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587044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pPr indent="0" marL="0">
              <a:buNone/>
            </a:pPr>
            <a:r>
              <a:rPr lang="en-US" sz="1200" i="1" dirty="0">
                <a:solidFill>
                  <a:srgbClr val="0E7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sala queda bloqueada y aparece automáticamente en el panel de los recepcionistas.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0" y="64465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 / 11 ·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PALMAS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9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DE CAPACIDAD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320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MVP ·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sala para </a:t>
            </a:r>
            <a:pPr indent="0" marL="0">
              <a:buNone/>
            </a:pPr>
            <a:r>
              <a:rPr lang="en-US" sz="3400" b="1" i="1" dirty="0">
                <a:solidFill>
                  <a:srgbClr val="149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equipo</a:t>
            </a:r>
            <a:pPr indent="0" marL="0">
              <a:buNone/>
            </a:pPr>
            <a:r>
              <a:rPr lang="en-US" sz="3400" b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filtra automáticamente según el número de personas seleccionado en el paso 2.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26974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97480"/>
            <a:ext cx="2697480" cy="411480"/>
          </a:xfrm>
          <a:prstGeom prst="rect">
            <a:avLst/>
          </a:prstGeom>
          <a:solidFill>
            <a:srgbClr val="14994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706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ÍNTIMA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i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— 4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85800" y="4389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23060" y="4800600"/>
            <a:ext cx="548640" cy="22860"/>
          </a:xfrm>
          <a:prstGeom prst="rect">
            <a:avLst/>
          </a:prstGeom>
          <a:solidFill>
            <a:srgbClr val="14994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983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pequeñas, entrevistas, sesiones 1-a-1.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5669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chica · Mesa para 4 con pantalla.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64992" y="2697480"/>
            <a:ext cx="26974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64992" y="2697480"/>
            <a:ext cx="2697480" cy="411480"/>
          </a:xfrm>
          <a:prstGeom prst="rect">
            <a:avLst/>
          </a:prstGeom>
          <a:solidFill>
            <a:srgbClr val="14994B"/>
          </a:solidFill>
          <a:ln/>
        </p:spPr>
      </p:sp>
      <p:sp>
        <p:nvSpPr>
          <p:cNvPr id="17" name="Text 15"/>
          <p:cNvSpPr/>
          <p:nvPr/>
        </p:nvSpPr>
        <p:spPr>
          <a:xfrm>
            <a:off x="3547872" y="27706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02152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i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— 8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3502152" y="4389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9412" y="4800600"/>
            <a:ext cx="548640" cy="22860"/>
          </a:xfrm>
          <a:prstGeom prst="rect">
            <a:avLst/>
          </a:prstGeom>
          <a:solidFill>
            <a:srgbClr val="14994B"/>
          </a:solidFill>
          <a:ln/>
        </p:spPr>
      </p:sp>
      <p:sp>
        <p:nvSpPr>
          <p:cNvPr id="21" name="Text 19"/>
          <p:cNvSpPr/>
          <p:nvPr/>
        </p:nvSpPr>
        <p:spPr>
          <a:xfrm>
            <a:off x="3547872" y="4983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de equipo, sesiones de planeación.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47872" y="5669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media · 8 sillas, pizarra y proyector.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81344" y="2697480"/>
            <a:ext cx="26974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81344" y="2697480"/>
            <a:ext cx="2697480" cy="411480"/>
          </a:xfrm>
          <a:prstGeom prst="rect">
            <a:avLst/>
          </a:prstGeom>
          <a:solidFill>
            <a:srgbClr val="14994B"/>
          </a:solidFill>
          <a:ln/>
        </p:spPr>
      </p:sp>
      <p:sp>
        <p:nvSpPr>
          <p:cNvPr id="25" name="Text 23"/>
          <p:cNvSpPr/>
          <p:nvPr/>
        </p:nvSpPr>
        <p:spPr>
          <a:xfrm>
            <a:off x="6364224" y="27706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18504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i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— 15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6318504" y="4389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55764" y="4800600"/>
            <a:ext cx="548640" cy="22860"/>
          </a:xfrm>
          <a:prstGeom prst="rect">
            <a:avLst/>
          </a:prstGeom>
          <a:solidFill>
            <a:srgbClr val="14994B"/>
          </a:solidFill>
          <a:ln/>
        </p:spPr>
      </p:sp>
      <p:sp>
        <p:nvSpPr>
          <p:cNvPr id="29" name="Text 27"/>
          <p:cNvSpPr/>
          <p:nvPr/>
        </p:nvSpPr>
        <p:spPr>
          <a:xfrm>
            <a:off x="6364224" y="4983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Juntas departamentales, comités, board meetings.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64224" y="5669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grande · Mesa ovalada, audio integrado.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997696" y="2697480"/>
            <a:ext cx="26974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97696" y="2697480"/>
            <a:ext cx="2697480" cy="411480"/>
          </a:xfrm>
          <a:prstGeom prst="rect">
            <a:avLst/>
          </a:prstGeom>
          <a:solidFill>
            <a:srgbClr val="14994B"/>
          </a:solidFill>
          <a:ln/>
        </p:spPr>
      </p:sp>
      <p:sp>
        <p:nvSpPr>
          <p:cNvPr id="33" name="Text 31"/>
          <p:cNvSpPr/>
          <p:nvPr/>
        </p:nvSpPr>
        <p:spPr>
          <a:xfrm>
            <a:off x="9180576" y="27706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34856" y="32918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i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— 30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9134856" y="43891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072116" y="4800600"/>
            <a:ext cx="548640" cy="22860"/>
          </a:xfrm>
          <a:prstGeom prst="rect">
            <a:avLst/>
          </a:prstGeom>
          <a:solidFill>
            <a:srgbClr val="14994B"/>
          </a:solidFill>
          <a:ln/>
        </p:spPr>
      </p:sp>
      <p:sp>
        <p:nvSpPr>
          <p:cNvPr id="37" name="Text 35"/>
          <p:cNvSpPr/>
          <p:nvPr/>
        </p:nvSpPr>
        <p:spPr>
          <a:xfrm>
            <a:off x="9180576" y="4983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Capacitaciones, eventos formales, presentaciones.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80576" y="56692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capacitación · Montaje auditorio o libre.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0" y="64465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 / 11 ·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PALMAS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9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Y COBROS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320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MVP ·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usuario tiene su </a:t>
            </a:r>
            <a:pPr indent="0" marL="0">
              <a:buNone/>
            </a:pPr>
            <a:r>
              <a:rPr lang="en-US" sz="3400" b="1" i="1" dirty="0">
                <a:solidFill>
                  <a:srgbClr val="149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bolsa de horas</a:t>
            </a:r>
            <a:pPr indent="0" marL="0">
              <a:buNone/>
            </a:pPr>
            <a:r>
              <a:rPr lang="en-US" sz="3400" b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excede, el sistema avisa y el cobro se activa automáticamente.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6576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43200"/>
            <a:ext cx="73152" cy="3291840"/>
          </a:xfrm>
          <a:prstGeom prst="rect">
            <a:avLst/>
          </a:prstGeom>
          <a:solidFill>
            <a:srgbClr val="14994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17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D8F0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6868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0233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administrador define cuántas horas al mes recibe cada usuario.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52120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por usuario, paquete o cuenta empresarial.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2743200"/>
            <a:ext cx="36576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2743200"/>
            <a:ext cx="73152" cy="3291840"/>
          </a:xfrm>
          <a:prstGeom prst="rect">
            <a:avLst/>
          </a:prstGeom>
          <a:solidFill>
            <a:srgbClr val="14994B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3017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D8F0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66344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40233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 acercarse al límite, el usuario ve un banner en pantalla.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52120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notifica al 80%, al 100% y al primer minuto excedido.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2743200"/>
            <a:ext cx="36576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2743200"/>
            <a:ext cx="73152" cy="3291840"/>
          </a:xfrm>
          <a:prstGeom prst="rect">
            <a:avLst/>
          </a:prstGeom>
          <a:solidFill>
            <a:srgbClr val="14994B"/>
          </a:solidFill>
          <a:ln/>
        </p:spPr>
      </p:sp>
      <p:sp>
        <p:nvSpPr>
          <p:cNvPr id="21" name="Text 19"/>
          <p:cNvSpPr/>
          <p:nvPr/>
        </p:nvSpPr>
        <p:spPr>
          <a:xfrm>
            <a:off x="8458200" y="3017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D8F0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45820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58200" y="40233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Pasado el límite, todo uso adicional genera un cargo.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58200" y="52120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MVP: registro listo para facturar. Pagos: Fase 2.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solidFill>
            <a:srgbClr val="1A1F18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6263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9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sorpresas — </a:t>
            </a:r>
            <a:pPr indent="0" marL="0">
              <a:buNone/>
            </a:pPr>
            <a:r>
              <a:rPr lang="en-US" sz="1200" i="1" dirty="0">
                <a:solidFill>
                  <a:srgbClr val="E0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cobro extra siempre se calcula sobre las horas excedidas, no sobre el paquete completo.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64465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7 / 11 ·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PALMAS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9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TÉCNICA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320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MVP ·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</a:t>
            </a:r>
            <a:pPr indent="0" marL="0">
              <a:buNone/>
            </a:pPr>
            <a:r>
              <a:rPr lang="en-US" sz="3400" b="1" i="1" dirty="0">
                <a:solidFill>
                  <a:srgbClr val="149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lean</a:t>
            </a:r>
            <a:pPr indent="0" marL="0">
              <a:buNone/>
            </a:pPr>
            <a:r>
              <a:rPr lang="en-US" sz="3400" b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listo en semanas.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servidores que mantener. Auth, base de datos, storage y tiempo real en una sola plataforma.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3832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43200"/>
            <a:ext cx="3383280" cy="411480"/>
          </a:xfrm>
          <a:prstGeom prst="rect">
            <a:avLst/>
          </a:prstGeom>
          <a:solidFill>
            <a:srgbClr val="1A1F1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16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App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HTML + CSS + Vanilla JS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3616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UI consistente con el sitio de Torre Palmas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7457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Responsive (móvil y escritorio)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51297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PWA-ready para futuras notificaciones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77640" y="4251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9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⇆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434840" y="2743200"/>
            <a:ext cx="36576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2743200"/>
            <a:ext cx="3657600" cy="411480"/>
          </a:xfrm>
          <a:prstGeom prst="rect">
            <a:avLst/>
          </a:prstGeom>
          <a:solidFill>
            <a:srgbClr val="14994B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8163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3337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Supabase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617720" y="3977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Postgres + Row Level Security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43616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Auth (email + roles)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47457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Realtime (sin recargar)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51297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Storage para documentos y fotos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38160" y="4251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⇆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8595360" y="2743200"/>
            <a:ext cx="3017520" cy="3474720"/>
          </a:xfrm>
          <a:prstGeom prst="rect">
            <a:avLst/>
          </a:prstGeom>
          <a:solidFill>
            <a:srgbClr val="EAEFE6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0" y="2743200"/>
            <a:ext cx="3017520" cy="411480"/>
          </a:xfrm>
          <a:prstGeom prst="rect">
            <a:avLst/>
          </a:prstGeom>
          <a:solidFill>
            <a:srgbClr val="6B7C5C"/>
          </a:solidFill>
          <a:ln/>
        </p:spPr>
      </p:sp>
      <p:sp>
        <p:nvSpPr>
          <p:cNvPr id="27" name="Text 25"/>
          <p:cNvSpPr/>
          <p:nvPr/>
        </p:nvSpPr>
        <p:spPr>
          <a:xfrm>
            <a:off x="8778240" y="2816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Servicios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778240" y="3977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Email (Resend)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778240" y="43616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Notificaciones push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778240" y="47457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Stripe / pagos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78240" y="51297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Webhook a CRM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solidFill>
            <a:srgbClr val="D8F0E2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6355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gratuito de Supabase soporta MVP sin costo durante la validación con primeros usuarios.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0" y="64465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8 / 11 ·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PALMAS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9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320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MVP ·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tablas, </a:t>
            </a:r>
            <a:pPr indent="0" marL="0">
              <a:buNone/>
            </a:pPr>
            <a:r>
              <a:rPr lang="en-US" sz="3000" b="1" i="1" dirty="0">
                <a:solidFill>
                  <a:srgbClr val="149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sola fuente de verdad</a:t>
            </a:r>
            <a:pPr indent="0" marL="0">
              <a:buNone/>
            </a:pPr>
            <a:r>
              <a:rPr lang="en-US" sz="3000" b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sistema gira en torno a estas entidades. Simple, auditable y fácil de extender.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743200"/>
            <a:ext cx="2468880" cy="685800"/>
          </a:xfrm>
          <a:prstGeom prst="rect">
            <a:avLst/>
          </a:prstGeom>
          <a:solidFill>
            <a:srgbClr val="1A1F1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9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2743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email · nombre · rol · horas_asignadas · horas_usadas · activo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520440"/>
            <a:ext cx="2468880" cy="685800"/>
          </a:xfrm>
          <a:prstGeom prst="rect">
            <a:avLst/>
          </a:prstGeom>
          <a:solidFill>
            <a:srgbClr val="1A1F1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204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9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3520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nombre · capacidad_min · capacidad_max · ubicación · equipamiento · activa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297680"/>
            <a:ext cx="2468880" cy="685800"/>
          </a:xfrm>
          <a:prstGeom prst="rect">
            <a:avLst/>
          </a:prstGeom>
          <a:solidFill>
            <a:srgbClr val="1A1F1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2976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9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4297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room_id · user_id · fecha · hora_inicio · hora_fin · n_personas · encargado · estado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074920"/>
            <a:ext cx="2468880" cy="685800"/>
          </a:xfrm>
          <a:prstGeom prst="rect">
            <a:avLst/>
          </a:prstGeom>
          <a:solidFill>
            <a:srgbClr val="1A1F1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074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9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role_permissions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00400" y="5074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· puede_reservar · puede_ver_todo · puede_editar · puede_admin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85216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852160"/>
            <a:ext cx="2468880" cy="685800"/>
          </a:xfrm>
          <a:prstGeom prst="rect">
            <a:avLst/>
          </a:prstGeom>
          <a:solidFill>
            <a:srgbClr val="1A1F18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852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99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usage_log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00400" y="5852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4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· mes · horas_consumidas · horas_excedidas · ya_facturado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0" y="64465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9 / 11 ·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TORRE PALMAS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9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0" y="320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MVP ·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MVP a </a:t>
            </a:r>
            <a:pPr indent="0" marL="0">
              <a:buNone/>
            </a:pPr>
            <a:r>
              <a:rPr lang="en-US" sz="3400" b="1" i="1" dirty="0">
                <a:solidFill>
                  <a:srgbClr val="149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plataforma completa</a:t>
            </a:r>
            <a:pPr indent="0" marL="0">
              <a:buNone/>
            </a:pPr>
            <a:r>
              <a:rPr lang="en-US" sz="3400" b="1" dirty="0">
                <a:solidFill>
                  <a:srgbClr val="1A1F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fases, cada una construye sobre la anterior. Sin reescribir nada.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37490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51760"/>
            <a:ext cx="3749040" cy="1371600"/>
          </a:xfrm>
          <a:prstGeom prst="rect">
            <a:avLst/>
          </a:prstGeom>
          <a:solidFill>
            <a:srgbClr val="14994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MVP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6 semanas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251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9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4297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permisos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709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9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56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reserva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166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9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5212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Bolsa de horas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6235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9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" y="5669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recepción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51960" y="3154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9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61688" y="2651760"/>
            <a:ext cx="37490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61688" y="2651760"/>
            <a:ext cx="3749040" cy="1371600"/>
          </a:xfrm>
          <a:prstGeom prst="rect">
            <a:avLst/>
          </a:prstGeom>
          <a:solidFill>
            <a:srgbClr val="6B7C5C"/>
          </a:solidFill>
          <a:ln/>
        </p:spPr>
      </p:sp>
      <p:sp>
        <p:nvSpPr>
          <p:cNvPr id="23" name="Text 21"/>
          <p:cNvSpPr/>
          <p:nvPr/>
        </p:nvSpPr>
        <p:spPr>
          <a:xfrm>
            <a:off x="4590288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90288" y="3154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Anuncios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590288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semanas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36008" y="4251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64608" y="4297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anuncios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36008" y="4709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864608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por admin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36008" y="5166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864608" y="5212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email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36008" y="56235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864608" y="5669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65008" y="31546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174736" y="2651760"/>
            <a:ext cx="374904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BD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74736" y="2651760"/>
            <a:ext cx="3749040" cy="1371600"/>
          </a:xfrm>
          <a:prstGeom prst="rect">
            <a:avLst/>
          </a:prstGeom>
          <a:solidFill>
            <a:srgbClr val="2A2F28"/>
          </a:solidFill>
          <a:ln/>
        </p:spPr>
      </p:sp>
      <p:sp>
        <p:nvSpPr>
          <p:cNvPr id="37" name="Text 35"/>
          <p:cNvSpPr/>
          <p:nvPr/>
        </p:nvSpPr>
        <p:spPr>
          <a:xfrm>
            <a:off x="8403336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03336" y="3154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Cobros y CRM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8403336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E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semanas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49056" y="42519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8677656" y="4297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con Stripe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449056" y="4709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8677656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métricas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449056" y="5166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8677656" y="5212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a CRM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449056" y="56235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2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8677656" y="5669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PWA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0" y="64465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10 / 11 ·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4994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A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Empezamos por </a:t>
            </a:r>
            <a:pPr indent="0" marL="0">
              <a:buNone/>
            </a:pPr>
            <a:r>
              <a:rPr lang="en-US" sz="5000" b="1" i="1" dirty="0">
                <a:solidFill>
                  <a:srgbClr val="1499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decisión</a:t>
            </a:r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914400" y="3017520"/>
            <a:ext cx="3520440" cy="2194560"/>
          </a:xfrm>
          <a:prstGeom prst="rect">
            <a:avLst/>
          </a:prstGeom>
          <a:solidFill>
            <a:srgbClr val="2A2F28"/>
          </a:solidFill>
          <a:ln w="6350">
            <a:solidFill>
              <a:srgbClr val="1499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149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6576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Confirmar alcance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43000" y="42062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0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este MVP con el equipo y aprobar dependencias.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3017520"/>
            <a:ext cx="3520440" cy="2194560"/>
          </a:xfrm>
          <a:prstGeom prst="rect">
            <a:avLst/>
          </a:prstGeom>
          <a:solidFill>
            <a:srgbClr val="2A2F28"/>
          </a:solidFill>
          <a:ln w="6350">
            <a:solidFill>
              <a:srgbClr val="1499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149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36576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Crear proyecto Supabase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846320" y="42062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0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técnico, esquema y datos semilla.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21040" y="3017520"/>
            <a:ext cx="3520440" cy="2194560"/>
          </a:xfrm>
          <a:prstGeom prst="rect">
            <a:avLst/>
          </a:prstGeom>
          <a:solidFill>
            <a:srgbClr val="2A2F28"/>
          </a:solidFill>
          <a:ln w="6350">
            <a:solidFill>
              <a:srgbClr val="1499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149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49640" y="36576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Construir MVP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549640" y="42062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0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backend, panel admin y panel recepción.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5760720"/>
            <a:ext cx="10332720" cy="731520"/>
          </a:xfrm>
          <a:prstGeom prst="rect">
            <a:avLst/>
          </a:prstGeom>
          <a:solidFill>
            <a:srgbClr val="14994B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57607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total MVP: </a:t>
            </a:r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 6 semanas</a:t>
            </a:r>
            <a:pPr indent="0" marL="0">
              <a:buNone/>
            </a:pPr>
            <a:r>
              <a:rPr lang="en-US" sz="1500" dirty="0">
                <a:solidFill>
                  <a:srgbClr val="D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500" i="1" dirty="0">
                <a:solidFill>
                  <a:srgbClr val="D8F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inmediato tras aprobación.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Torre Palmas Web App — MVP</dc:title>
  <dc:subject>PptxGenJS Presentation</dc:subject>
  <dc:creator>Torre Palmas</dc:creator>
  <cp:lastModifiedBy>Torre Palmas</cp:lastModifiedBy>
  <cp:revision>1</cp:revision>
  <dcterms:created xsi:type="dcterms:W3CDTF">2026-06-18T16:29:23Z</dcterms:created>
  <dcterms:modified xsi:type="dcterms:W3CDTF">2026-06-18T16:29:23Z</dcterms:modified>
</cp:coreProperties>
</file>